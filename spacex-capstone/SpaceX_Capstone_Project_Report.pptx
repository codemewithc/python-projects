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9" r:id="rId12"/>
    <p:sldId id="270" r:id="rId13"/>
    <p:sldId id="264" r:id="rId14"/>
    <p:sldId id="265" r:id="rId15"/>
    <p:sldId id="266" r:id="rId16"/>
    <p:sldId id="267" r:id="rId17"/>
    <p:sldId id="268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 panose="020B0604020202020204"/>
              </a:rPr>
              <a:t>Success Rate by Orbit Type</a:t>
            </a:r>
            <a:endParaRPr sz="18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 (%)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LEO</c:v>
                </c:pt>
                <c:pt idx="1">
                  <c:v>ISS</c:v>
                </c:pt>
                <c:pt idx="2">
                  <c:v>PO</c:v>
                </c:pt>
                <c:pt idx="3">
                  <c:v>GTO</c:v>
                </c:pt>
                <c:pt idx="4">
                  <c:v>SSO</c:v>
                </c:pt>
                <c:pt idx="5">
                  <c:v>VLEO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77</c:v>
                </c:pt>
                <c:pt idx="1">
                  <c:v>83</c:v>
                </c:pt>
                <c:pt idx="2">
                  <c:v>60</c:v>
                </c:pt>
                <c:pt idx="3">
                  <c:v>55</c:v>
                </c:pt>
                <c:pt idx="4">
                  <c:v>92</c:v>
                </c:pt>
                <c:pt idx="5">
                  <c:v>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46E7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46E7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ec5b2c25-5e57-47cb-b45f-331f2bba5688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 panose="020B0604020202020204"/>
              </a:rPr>
              <a:t>Success Rate Trend Over Years (%)</a:t>
            </a:r>
            <a:endParaRPr sz="18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spPr>
            <a:ln w="31750" cap="flat" cmpd="sng" algn="ctr">
              <a:solidFill>
                <a:srgbClr val="00BC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CD4"/>
              </a:solidFill>
              <a:ln w="9525" cap="flat" cmpd="sng" algn="ctr">
                <a:solidFill>
                  <a:srgbClr val="00BCD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25</c:v>
                </c:pt>
                <c:pt idx="2">
                  <c:v>30</c:v>
                </c:pt>
                <c:pt idx="3">
                  <c:v>60</c:v>
                </c:pt>
                <c:pt idx="4">
                  <c:v>72</c:v>
                </c:pt>
                <c:pt idx="5">
                  <c:v>80</c:v>
                </c:pt>
                <c:pt idx="6">
                  <c:v>85</c:v>
                </c:pt>
                <c:pt idx="7">
                  <c:v>90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46E7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46E7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c5f4d129-64e5-4791-b797-d0f354540a17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 panose="020B0604020202020204"/>
              </a:rPr>
              <a:t>Landing Outcome Breakdown</a:t>
            </a:r>
            <a:endParaRPr sz="18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Outcome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bubble3D val="0"/>
            <c:spPr>
              <a:solidFill>
                <a:srgbClr val="1565C0"/>
              </a:solidFill>
              <a:effectLst/>
            </c:spPr>
          </c:dPt>
          <c:dPt>
            <c:idx val="2"/>
            <c:bubble3D val="0"/>
            <c:spPr>
              <a:solidFill>
                <a:srgbClr val="C62828"/>
              </a:solidFill>
              <a:effectLst/>
            </c:spPr>
          </c:dPt>
          <c:dPt>
            <c:idx val="3"/>
            <c:bubble3D val="0"/>
            <c:spPr>
              <a:solidFill>
                <a:srgbClr val="F57F17"/>
              </a:solidFill>
              <a:effectLst/>
            </c:spPr>
          </c:dPt>
          <c:dPt>
            <c:idx val="4"/>
            <c:bubble3D val="0"/>
            <c:spPr>
              <a:solidFill>
                <a:srgbClr val="78909C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Success Ground</c:v>
                </c:pt>
                <c:pt idx="1">
                  <c:v>Success Ship</c:v>
                </c:pt>
                <c:pt idx="2">
                  <c:v>Failure Ship</c:v>
                </c:pt>
                <c:pt idx="3">
                  <c:v>Failure Ocean</c:v>
                </c:pt>
                <c:pt idx="4">
                  <c:v>No Attempt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</c:v>
                </c:pt>
                <c:pt idx="1">
                  <c:v>41</c:v>
                </c:pt>
                <c:pt idx="2">
                  <c:v>10</c:v>
                </c:pt>
                <c:pt idx="3">
                  <c:v>5</c:v>
                </c:pt>
                <c:pt idx="4">
                  <c:v>21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c968e3a-aa78-42b1-839e-d10d184f6a5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 panose="020B0604020202020204"/>
              </a:rPr>
              <a:t>Test Accuracy by Model</a:t>
            </a:r>
            <a:endParaRPr sz="18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546E7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46E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46E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46E7A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SVM</c:v>
                </c:pt>
                <c:pt idx="2">
                  <c:v>Decision
Tree</c:v>
                </c:pt>
                <c:pt idx="3">
                  <c:v>KNN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83.3</c:v>
                </c:pt>
                <c:pt idx="1">
                  <c:v>83.3</c:v>
                </c:pt>
                <c:pt idx="2">
                  <c:v>83.3</c:v>
                </c:pt>
                <c:pt idx="3">
                  <c:v>83.3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46E7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46E7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04f20582-99ef-491c-a500-e3b127461ec4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291346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91346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86868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70348"/>
            <a:ext cx="86868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"/>
            <a:ext cx="8046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SpaceX Falcon 9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1261872"/>
            <a:ext cx="8046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Stage Landing Prediction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Science Capstone Project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1828800" cy="914400"/>
          </a:xfrm>
          <a:prstGeom prst="rect">
            <a:avLst/>
          </a:prstGeom>
          <a:solidFill>
            <a:srgbClr val="0D2A4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68880"/>
            <a:ext cx="17373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77240" y="2944368"/>
            <a:ext cx="1737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Launch Records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34640" y="2423160"/>
            <a:ext cx="1828800" cy="914400"/>
          </a:xfrm>
          <a:prstGeom prst="rect">
            <a:avLst/>
          </a:prstGeom>
          <a:solidFill>
            <a:srgbClr val="0D2A4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2468880"/>
            <a:ext cx="17373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880360" y="2944368"/>
            <a:ext cx="1737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Models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0" y="2423160"/>
            <a:ext cx="1828800" cy="914400"/>
          </a:xfrm>
          <a:prstGeom prst="rect">
            <a:avLst/>
          </a:prstGeom>
          <a:solidFill>
            <a:srgbClr val="0D2A4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468880"/>
            <a:ext cx="17373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983480" y="2944368"/>
            <a:ext cx="1737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Accuracy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40880" y="2423160"/>
            <a:ext cx="1828800" cy="914400"/>
          </a:xfrm>
          <a:prstGeom prst="rect">
            <a:avLst/>
          </a:prstGeom>
          <a:solidFill>
            <a:srgbClr val="0D2A4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2468880"/>
            <a:ext cx="17373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$103M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086600" y="2944368"/>
            <a:ext cx="1737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 Savings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434840"/>
            <a:ext cx="8046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IBM Data Science Professional Certificate  ·  2024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690872"/>
            <a:ext cx="8046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GitHub: https://github.com/codemewithc/Python-projects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findings and business impact at a glance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228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70432"/>
            <a:ext cx="5120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61872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36192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SpaceX lists Falcon 9 launches at $62M vs $165M+ for competitors — largely because they reuse the first stage booster.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Predicting whether the first stage will successfully land determines actual launch cost. This capability gives competing bidders a strategic pricing advantage.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collected via SpaceX REST API &amp; Wikipedia web scraping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SQL-based EDA on launch records; interactive Folium maps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Plotly Dash dashboard for real-time visual analytics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ML classifiers trained with GridSearchCV; Decision Tree achieved best test accuracy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0" y="1170432"/>
            <a:ext cx="310896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216152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760720" y="1591056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Model Accuracy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(Decision Tree)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69280" y="2057400"/>
            <a:ext cx="3108960" cy="8046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210312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KSC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760720" y="2478024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Launch Site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(Most Successes)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69280" y="2944368"/>
            <a:ext cx="3108960" cy="8046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2990088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2,000–4,000 kg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760720" y="3364992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C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Highest Success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CC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Payload Range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0" y="3831336"/>
            <a:ext cx="3108960" cy="804672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3877056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760720" y="4251960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E93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Booster Version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E93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Success Rate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4892040"/>
            <a:ext cx="8229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SpaceX Capstone Project  |  IBM Data Science  |  https://github.com/codemewithc/Python-projects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Background, problem definition &amp; project goals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228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41148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SpaceX has disrupted the launch industry through reusable rocket technology. The Falcon 9 rocket's first stage booster can be recovered, refurbished, and reflown, cutting per-launch costs by up to 60%.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successful booster landing directly translates to savings of $100M+. Predicting landing success before launch enables: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907792"/>
            <a:ext cx="39319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Accurate cost estimation for competing launch providers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assessment and insurance pricing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Strategic bidding against SpaceX tenders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70432"/>
            <a:ext cx="4114800" cy="2011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26187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572768"/>
            <a:ext cx="384048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Given historical Falcon 9 launch data (payload mass, orbit, launch site, booster version), predict whether the first stage booster will successfully land — enabling pre-launch cost estimation.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54880" y="324612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Launch Cost Comparison ($ Millions)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35478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SpaceX</a:t>
            </a:r>
            <a:endParaRPr lang="en-US" sz="900" dirty="0"/>
          </a:p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(Reused)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08192" y="3593592"/>
            <a:ext cx="1305652" cy="274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32132" y="35935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$62M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40050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Competitors</a:t>
            </a:r>
            <a:endParaRPr lang="en-US" sz="900" dirty="0"/>
          </a:p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(Avg)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08192" y="4050792"/>
            <a:ext cx="3474720" cy="27432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0" y="40507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53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$165M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4892040"/>
            <a:ext cx="8229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SpaceX Capstone Project  |  IBM Data Science  |  https://github.com/codemewithc/Python-projects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Collection — SpaceX API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 · GitHub: https://github.com/codemewithc/Python-projects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228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0432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Retrieval Workflow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150876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36192"/>
            <a:ext cx="14173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SpaceX REST API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v4/launches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74520" y="1737360"/>
            <a:ext cx="182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066544" y="1508760"/>
            <a:ext cx="150876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12264" y="1536192"/>
            <a:ext cx="14173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Fetch Rocket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Payload IDs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75304" y="1737360"/>
            <a:ext cx="182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767328" y="1508760"/>
            <a:ext cx="150876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13048" y="1536192"/>
            <a:ext cx="14173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Enrich with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launchpad &amp; crew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76088" y="1737360"/>
            <a:ext cx="182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68112" y="1508760"/>
            <a:ext cx="150876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13832" y="1536192"/>
            <a:ext cx="14173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Construct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DataFrame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976872" y="1737360"/>
            <a:ext cx="182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168896" y="1508760"/>
            <a:ext cx="1508760" cy="868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14616" y="1536192"/>
            <a:ext cx="14173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Export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spacex_data.csv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2542032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Features Extracted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2834640"/>
            <a:ext cx="1920240" cy="27432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862072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FlightNumber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77440" y="2834640"/>
            <a:ext cx="1920240" cy="27432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2862072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Launch date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163824"/>
            <a:ext cx="1920240" cy="27432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191256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BoosterVersion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377440" y="3163824"/>
            <a:ext cx="1920240" cy="27432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0" y="3191256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PayloadMass (kg)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493008"/>
            <a:ext cx="1920240" cy="27432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52044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Orbit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377440" y="3493008"/>
            <a:ext cx="1920240" cy="27432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8880" y="352044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LaunchSite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822192"/>
            <a:ext cx="1920240" cy="27432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849624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77440" y="3822192"/>
            <a:ext cx="1920240" cy="27432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68880" y="3849624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Longitude/Latitude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151376"/>
            <a:ext cx="1920240" cy="27432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17880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LandingPad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377440" y="4151376"/>
            <a:ext cx="1920240" cy="27432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68880" y="417880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/ GridFins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2542032"/>
            <a:ext cx="4114800" cy="2194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2633472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Summary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892040" y="29260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Launches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178040" y="29260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92040" y="325526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Date Range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178040" y="325526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2010 – 2020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892040" y="358444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Launch Sites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178040" y="358444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892040" y="391363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Booster Versions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178040" y="391363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6+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892040" y="424281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 Rate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178040" y="4242816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~67%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274320" y="4892040"/>
            <a:ext cx="8229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SpaceX Capstone Project  |  IBM Data Science  |  https://github.com/codemewithc/Python-projects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Collection — Web Scraping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Wikipedia scraping with BeautifulSoup · GitHub: https://github.com/codemewithc/Python-projects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228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0432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Scraped: Wikipedia — List of Falcon 9 and Falcon Heavy Launches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0020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02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60020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Request HTML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856232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requests library to fetch Wikipedia launch table HTML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50876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60020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6002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160020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Parse with BS4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49240" y="1856232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BeautifulSoup parsed &lt;table&gt; tags; extracted Falcon 9 rows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56032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65176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6517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265176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 Columns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2907792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Flight No., Date/Time, Version, Payload, Orbit, Outcome, Turnaround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256032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265176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6517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9240" y="265176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&amp; Export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2907792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Handled missing values; exported to CSV for downstream use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3639312"/>
            <a:ext cx="8412480" cy="10058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712464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Additional Data Captured via Scraping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3968496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Booster reuse count  ·  Landing outcome (Success/Failure/Drone Ship/Ground Pad)  ·  Turnaround time between launches  ·  Customer/mission type  ·  Payload classification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229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SpaceX Capstone Project  |  IBM Data Science  |  https://github.com/codemewithc/Python-projects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Wrangling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cleaning, feature engineering &amp; label creation · GitHub: https://github.com/codemewithc/Python-projects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228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" y="1188720"/>
            <a:ext cx="292608" cy="2926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" y="11887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 Missing Values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PayloadMass: filled with column mean. LandingPad: filled 'None' for non-pad landings.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" y="2084832"/>
            <a:ext cx="292608" cy="2926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" y="208483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084832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 Falcon 9 Only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359152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Removed Falcon Heavy and experimental flights; kept only operational Falcon 9 launches.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" y="2980944"/>
            <a:ext cx="292608" cy="2926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" y="298094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2980944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Training Label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255264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"class" column: 1 = successful first-stage landing, 0 = unsuccessful. Derived from Outcome field.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" y="3877056"/>
            <a:ext cx="292608" cy="2926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" y="387705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877056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151376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One-hot encoding for categorical variables (Orbit, LaunchSite, LandingPad, Serial). Standardized numeric features.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0" y="118872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Landing Outcome Distribution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5029200" y="1481328"/>
          <a:ext cx="3840480" cy="201168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731520"/>
              </a:tblGrid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Outcome Code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Description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Count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65C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True Ocean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Failure (ocean)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False ASDS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Failure (ship)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True RTLS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Success (ground)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14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True ASDS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Success (ship)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41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None None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attempt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21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5029200" y="3566160"/>
            <a:ext cx="3840480" cy="1097280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66360" y="3639312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7F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Balance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166360" y="3913632"/>
            <a:ext cx="3474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 (Class=1): ~67%   Failure (Class=0): ~33%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Slightly imbalanced — handled via stratified train/test split (80/20).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274320" y="4892040"/>
            <a:ext cx="8229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SpaceX Capstone Project  |  IBM Data Science  |  https://github.com/codemewithc/Python-projects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 — Visualization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patterns from scatter plots, bar charts &amp; trend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228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365760" y="1188720"/>
          <a:ext cx="41148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663440" y="1188720"/>
          <a:ext cx="41148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365760" y="3337560"/>
            <a:ext cx="8412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↑  SSO &amp; VLEO orbits show 88–92% success — lighter payloads improve landing odds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365760" y="3721608"/>
            <a:ext cx="8412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📈  Year-over-year success rate climbed from near-zero in 2010 to 90%+ by 2020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65760" y="4105656"/>
            <a:ext cx="8412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⚖️  Payload 2,000–4,000 kg sweet spot: high enough payload, low enough mass for fuel-efficient landing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65760" y="4489704"/>
            <a:ext cx="8412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🚀  GTO missions have lowest success rate (~55%) due to high fuel consumption leaving booster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274320" y="4892040"/>
            <a:ext cx="8229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SpaceX Capstone Project  |  IBM Data Science  |  https://github.com/codemewithc/Python-projects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 — SQL Analysis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queries on SPACEXTABLE (SQLite) · GitHub: https://github.com/codemewithc/Python-projects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228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70432"/>
            <a:ext cx="4754880" cy="35661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61872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Selected SQL Query Results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43891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Unique Launch Sites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1792224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CCAFS LC-40, VAFB SLC-4E, KSC LC-39A, CCAFS SLC-40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43891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NASA CRS Payload (kg)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322576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45,596 kg across all CRS missions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633472"/>
            <a:ext cx="43891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Payload — F9 v1.1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85292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2,534 kg average payload mass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163824"/>
            <a:ext cx="43891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Successful Ground Landing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2015-12-22 (CCAFS LC-40)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694176"/>
            <a:ext cx="43891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Drone Ship Success — 4–6k kg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3913632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B1039, B1060 (4,230 &amp; 5,683 kg)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224528"/>
            <a:ext cx="43891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Ranked Landing Outcome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4443984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 (ground pad): 27 landings</a:t>
            </a:r>
            <a:endParaRPr lang="en-US" sz="10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5303520" y="1170432"/>
          <a:ext cx="35661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274320" y="4892040"/>
            <a:ext cx="8229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SpaceX Capstone Project  |  IBM Data Science  |  https://github.com/codemewithc/Python-projects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16205" y="-253365"/>
            <a:ext cx="9366885" cy="56349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38505"/>
            <a:ext cx="9144000" cy="36658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Visual Analytics — Folium Maps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Launch site mapping &amp; proximity analysis · GitHub: https://github.com/codemewithc/Python-projects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228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Launch Sites Mapped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365760" y="1481328"/>
          <a:ext cx="4754880" cy="150876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005840"/>
                <a:gridCol w="1097280"/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Site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Launches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Success%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65C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KSC LC-39A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Florida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27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77%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CCAFS LC-40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Florida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26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65%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CCAFS SLC-40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Florida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22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59%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VAFB SLC-4E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California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13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62%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306324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Proximity Analysis Findings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3337560"/>
            <a:ext cx="475488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sites located within 20 km of coastline (ocean proximity for safety)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Sites 50–100 km from populated cities (safety buffers maintained)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KSC closest to railway infrastructure — logistics advantage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VAFB optimized for polar/SSO orbits (Pacific launch corridor)</a:t>
            </a:r>
            <a:endParaRPr lang="en-US" sz="1050" dirty="0"/>
          </a:p>
        </p:txBody>
      </p:sp>
      <p:sp>
        <p:nvSpPr>
          <p:cNvPr id="7" name="Shape 7"/>
          <p:cNvSpPr/>
          <p:nvPr/>
        </p:nvSpPr>
        <p:spPr>
          <a:xfrm>
            <a:off x="5303520" y="1170432"/>
            <a:ext cx="356616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40680" y="1261872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Folium Map Features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40680" y="160020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🟢 Green markers = successful landings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40680" y="205740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🔴 Red markers = failed landings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40680" y="251460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⭕ Circle markers = launch sites with pop-up details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40680" y="297180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📏 Distance lines — coastline, city, railways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40680" y="342900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🗺️ Cluster view for dense launch areas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40680" y="388620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Filterable by mission outcome for pattern analysis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440680" y="4389120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live map: https://github.com/codemewithc/Python-projects/blob/main/lab_jupyter_launch_site_location.ipynb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74320" y="4892040"/>
            <a:ext cx="8229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SpaceX Capstone Project  |  IBM Data Science  |  https://github.com/codemewithc/Python-projects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Visual Analytics — Plotly Dash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analytics app · GitHub: https://github.com/codemewithc/Python-projects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228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Components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08760"/>
            <a:ext cx="73152" cy="9144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60020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Launch Site Dropdown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1874520"/>
            <a:ext cx="3840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a specific site or 'All Sites' to filter the entire dashboard in real-time.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50876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508760"/>
            <a:ext cx="73152" cy="9144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60020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Payload Range Slider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9472" y="1874520"/>
            <a:ext cx="3840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 launches by payload mass (0–10,000 kg) to explore mass vs. outcome correlations.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56032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560320"/>
            <a:ext cx="73152" cy="9144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65176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 Pie Chart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" y="2926080"/>
            <a:ext cx="3840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pie chart showing success/failure ratio for selected site(s) — updates on dropdown change.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56032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560320"/>
            <a:ext cx="73152" cy="9144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265176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Payload Scatter Plot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19472" y="2926080"/>
            <a:ext cx="3840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X: Payload Mass, Y: Launch Outcome. Color-coded by Booster Version (v1.0, v1.1, FT, B4, B5).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639312"/>
            <a:ext cx="8412480" cy="1234440"/>
          </a:xfrm>
          <a:prstGeom prst="rect">
            <a:avLst/>
          </a:prstGeom>
          <a:solidFill>
            <a:srgbClr val="E8EAF6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712464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Insights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3986784"/>
            <a:ext cx="80467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KSC LC-39A has the highest total successful launches (27). </a:t>
            </a:r>
            <a:r>
              <a:rPr lang="en-US" sz="105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CCAFS SLC-40 has highest overall launch count.  </a:t>
            </a:r>
            <a:r>
              <a:rPr lang="en-US" sz="105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Payload 2,000–4,000 kg shows the highest success rate across all sites.  </a:t>
            </a:r>
            <a:r>
              <a:rPr lang="en-US" sz="105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FT booster version consistently outperforms older versions in success rate.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4320" y="4892040"/>
            <a:ext cx="8229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SpaceX Capstone Project  |  IBM Data Science  |  https://github.com/codemewithc/Python-projects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Predictive Analysis — Methodology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 pipeline &amp; model selection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228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Pipeline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1508760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08760"/>
            <a:ext cx="1417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Standardize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1719072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66544" y="1481328"/>
            <a:ext cx="1508760" cy="7498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12264" y="1508760"/>
            <a:ext cx="1417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Train/Test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 80/20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75304" y="1719072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67328" y="1481328"/>
            <a:ext cx="1508760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13048" y="1508760"/>
            <a:ext cx="1417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GridSearchCV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cv=10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76088" y="1719072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68112" y="1481328"/>
            <a:ext cx="1508760" cy="7498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13832" y="1508760"/>
            <a:ext cx="1417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Model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76872" y="1719072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168896" y="1481328"/>
            <a:ext cx="1508760" cy="749808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14616" y="1508760"/>
            <a:ext cx="1417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Set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2377440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 Trained &amp; Hyperparameters (GridSearchCV)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/>
        </p:nvGraphicFramePr>
        <p:xfrm>
          <a:off x="365760" y="2670048"/>
          <a:ext cx="8412480" cy="1920240"/>
        </p:xfrm>
        <a:graphic>
          <a:graphicData uri="http://schemas.openxmlformats.org/drawingml/2006/table">
            <a:tbl>
              <a:tblPr/>
              <a:tblGrid>
                <a:gridCol w="1920240"/>
                <a:gridCol w="3474720"/>
                <a:gridCol w="1280160"/>
                <a:gridCol w="173736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Model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Key Hyperparameters Searched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CV Score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Test Accuracy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65C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Logistic Regression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C: [0.01, 0.1, 1, 10, 100], solver: lbfgs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83.3%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83.3%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Support Vector Machine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C: [0.01-100], gamma: [auto, scale], kernel: linear/rbf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83.3%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83.3%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Decision Tree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max_depth: [2–15], criterion: gini/entropy, max_features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87.2%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83.3%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5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K-Nearest Neighbors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n_neighbors: [1–10], algorithm, p: [1,2]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80.0%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3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83.3%</a:t>
                      </a:r>
                      <a:endParaRPr lang="en-US" sz="9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274320" y="4892040"/>
            <a:ext cx="8229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SpaceX Capstone Project  |  IBM Data Science  |  https://github.com/codemewithc/Python-projects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Predictive Analysis — Results &amp; Evaluation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comparison, confusion matrix &amp; best model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228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365760" y="1170432"/>
          <a:ext cx="38404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389120" y="1170432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 Tree — Confusion Matrix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389120" y="1417320"/>
            <a:ext cx="4480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(on 18 test samples)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60720" y="1664208"/>
            <a:ext cx="14630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06440" y="168249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Predicted: 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269480" y="1664208"/>
            <a:ext cx="14630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0" y="168249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Predicted: 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89120" y="1965960"/>
            <a:ext cx="1325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34840" y="1984248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Actual: 0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0" y="1965960"/>
            <a:ext cx="146304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1984248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TP=3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(True 0)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269480" y="1965960"/>
            <a:ext cx="1463040" cy="548640"/>
          </a:xfrm>
          <a:prstGeom prst="rect">
            <a:avLst/>
          </a:prstGeom>
          <a:solidFill>
            <a:srgbClr val="FFEB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0" y="1984248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FP=3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(False 1)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389120" y="2542032"/>
            <a:ext cx="1325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34840" y="2560320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Actual: 1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760720" y="2542032"/>
            <a:ext cx="1463040" cy="548640"/>
          </a:xfrm>
          <a:prstGeom prst="rect">
            <a:avLst/>
          </a:prstGeom>
          <a:solidFill>
            <a:srgbClr val="FFEB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256032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FN=0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(False 0)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269480" y="2542032"/>
            <a:ext cx="146304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0" y="256032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TN=12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(True 1)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65760" y="3547872"/>
            <a:ext cx="8412480" cy="118872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3621024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48640" y="3895344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4 models achieved identical 83.3% test accuracy on 18 test samples. Decision Tree was selected as best model due to highest CV score (87.2%) and interpretability.  The main error type is False Positives (predicting landing when it fails), which is safer for business use — overestimating costs rather than underestimating them.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274320" y="4892040"/>
            <a:ext cx="8229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SpaceX Capstone Project  |  IBM Data Science  |  https://github.com/codemewithc/Python-projects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Insights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SpaceX Falcon 9 First Stage Landing Prediction — Capstone Summary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115568"/>
            <a:ext cx="2651760" cy="3291840"/>
          </a:xfrm>
          <a:prstGeom prst="rect">
            <a:avLst/>
          </a:prstGeom>
          <a:solidFill>
            <a:srgbClr val="0D2A4A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115568"/>
            <a:ext cx="26517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33856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Findings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246888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E3F2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 Tree (best CV 87.2%) selected as final model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E3F2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83.3% test accuracy — strong baseline for 90-sample dataset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E3F2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false negatives: zero missed actual successes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E3F2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predictors: orbit type, payload mass, launch site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1115568"/>
            <a:ext cx="2651760" cy="3291840"/>
          </a:xfrm>
          <a:prstGeom prst="rect">
            <a:avLst/>
          </a:prstGeom>
          <a:solidFill>
            <a:srgbClr val="0D2A4A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115568"/>
            <a:ext cx="2651760" cy="34747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133856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Insights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1508760"/>
            <a:ext cx="246888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E3F2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KSC LC-39A = highest success count &amp; efficiency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E3F2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FT booster version = highest reliability across sites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E3F2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2,000–4,000 kg payloads achieve best landing odds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E3F2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SSO &amp; VLEO missions most likely to recover booster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1115568"/>
            <a:ext cx="2651760" cy="3291840"/>
          </a:xfrm>
          <a:prstGeom prst="rect">
            <a:avLst/>
          </a:prstGeom>
          <a:solidFill>
            <a:srgbClr val="0D2A4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115568"/>
            <a:ext cx="265176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133856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1508760"/>
            <a:ext cx="246888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E3F2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Expand dataset to post-2020 launches (Starship era)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E3F2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weather data, reuse count, turnaround time features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E3F2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Try XGBoost/Random Forest for ensemble improvements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E3F2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model as real-time pricing API for bid calculation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841248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599432"/>
            <a:ext cx="8046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Repository: https://github.com/codemewithc/Python-projects  ·  IBM Data Science Professional Certificate  ·  2024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9740</Words>
  <Application>WPS Presentation</Application>
  <PresentationFormat>On-screen Show (16:9)</PresentationFormat>
  <Paragraphs>581</Paragraphs>
  <Slides>15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SpaceX Falcon 9 First Stage Landing Prediction</dc:title>
  <dc:creator>Data Science Capstone</dc:creator>
  <dc:subject>PptxGenJS Presentation</dc:subject>
  <cp:lastModifiedBy>BEN_ZEMA</cp:lastModifiedBy>
  <cp:revision>3</cp:revision>
  <dcterms:created xsi:type="dcterms:W3CDTF">2026-05-09T09:52:00Z</dcterms:created>
  <dcterms:modified xsi:type="dcterms:W3CDTF">2026-05-09T11:46:09Z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5B155BB8A3924DD4B8203B195DC05C46_12</vt:lpwstr>
  </property>
  <property fmtid="{D5CDD505-2E9C-101B-9397-08002B2CF9AE}" pid="3" name="KSOProductBuildVer">
    <vt:lpwstr>1033-12.1.0.25242</vt:lpwstr>
  </property>
</Properties>
</file>