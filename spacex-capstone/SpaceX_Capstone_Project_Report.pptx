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17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800" b="0" i="0" u="none" strike="noStrike" kern="1200" baseline="0">
                <a:solidFill>
                  <a:srgbClr val="000000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 panose="020B0604020202020204"/>
              </a:rPr>
              <a:t>Success Rate by Orbit Type</a:t>
            </a:r>
            <a:endParaRPr sz="1800" b="0" i="0" u="none" strike="noStrike">
              <a:solidFill>
                <a:srgbClr val="000000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Rate (%)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1E293B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LEO</c:v>
                </c:pt>
                <c:pt idx="1">
                  <c:v>ISS</c:v>
                </c:pt>
                <c:pt idx="2">
                  <c:v>PO</c:v>
                </c:pt>
                <c:pt idx="3">
                  <c:v>GTO</c:v>
                </c:pt>
                <c:pt idx="4">
                  <c:v>SSO</c:v>
                </c:pt>
                <c:pt idx="5">
                  <c:v>VLEO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</c:v>
                </c:pt>
                <c:pt idx="1">
                  <c:v>83</c:v>
                </c:pt>
                <c:pt idx="2">
                  <c:v>60</c:v>
                </c:pt>
                <c:pt idx="3">
                  <c:v>55</c:v>
                </c:pt>
                <c:pt idx="4">
                  <c:v>92</c:v>
                </c:pt>
                <c:pt idx="5">
                  <c:v>88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46E7A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46E7A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ec5b2c25-5e57-47cb-b45f-331f2bba5688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800" b="0" i="0" u="none" strike="noStrike" kern="1200" baseline="0">
                <a:solidFill>
                  <a:srgbClr val="000000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 panose="020B0604020202020204"/>
              </a:rPr>
              <a:t>Success Rate Trend Over Years (%)</a:t>
            </a:r>
            <a:endParaRPr sz="1800" b="0" i="0" u="none" strike="noStrike">
              <a:solidFill>
                <a:srgbClr val="000000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Rate</c:v>
                </c:pt>
              </c:strCache>
            </c:strRef>
          </c:tx>
          <c:spPr>
            <a:ln w="31750" cap="flat" cmpd="sng" algn="ctr">
              <a:solidFill>
                <a:srgbClr val="00BCD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BCD4"/>
              </a:solidFill>
              <a:ln w="9525" cap="flat" cmpd="sng" algn="ctr">
                <a:solidFill>
                  <a:srgbClr val="00BCD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numRef>
              <c:f>Sheet1!$A$2:$A$9</c:f>
              <c:numCache>
                <c:formatCode>General</c:formatCode>
                <c:ptCount val="8"/>
                <c:pt idx="0">
                  <c:v>2010</c:v>
                </c:pt>
                <c:pt idx="1">
                  <c:v>2012</c:v>
                </c:pt>
                <c:pt idx="2">
                  <c:v>2014</c:v>
                </c:pt>
                <c:pt idx="3">
                  <c:v>2016</c:v>
                </c:pt>
                <c:pt idx="4">
                  <c:v>2017</c:v>
                </c:pt>
                <c:pt idx="5">
                  <c:v>2018</c:v>
                </c:pt>
                <c:pt idx="6">
                  <c:v>2019</c:v>
                </c:pt>
                <c:pt idx="7">
                  <c:v>2020</c:v>
                </c:pt>
              </c:numCache>
            </c:num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25</c:v>
                </c:pt>
                <c:pt idx="2">
                  <c:v>30</c:v>
                </c:pt>
                <c:pt idx="3">
                  <c:v>60</c:v>
                </c:pt>
                <c:pt idx="4">
                  <c:v>72</c:v>
                </c:pt>
                <c:pt idx="5">
                  <c:v>80</c:v>
                </c:pt>
                <c:pt idx="6">
                  <c:v>85</c:v>
                </c:pt>
                <c:pt idx="7">
                  <c:v>90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46E7A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46E7A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c5f4d129-64e5-4791-b797-d0f354540a17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800" b="0" i="0" u="none" strike="noStrike" kern="1200" baseline="0">
                <a:solidFill>
                  <a:srgbClr val="000000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 panose="020B0604020202020204"/>
              </a:rPr>
              <a:t>Landing Outcome Breakdown</a:t>
            </a:r>
            <a:endParaRPr sz="1800" b="0" i="0" u="none" strike="noStrike">
              <a:solidFill>
                <a:srgbClr val="000000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2E7D32"/>
              </a:solidFill>
              <a:effectLst/>
            </c:spPr>
          </c:dPt>
          <c:dPt>
            <c:idx val="1"/>
            <c:bubble3D val="0"/>
            <c:spPr>
              <a:solidFill>
                <a:srgbClr val="1565C0"/>
              </a:solidFill>
              <a:effectLst/>
            </c:spPr>
          </c:dPt>
          <c:dPt>
            <c:idx val="2"/>
            <c:bubble3D val="0"/>
            <c:spPr>
              <a:solidFill>
                <a:srgbClr val="C62828"/>
              </a:solidFill>
              <a:effectLst/>
            </c:spPr>
          </c:dPt>
          <c:dPt>
            <c:idx val="3"/>
            <c:bubble3D val="0"/>
            <c:spPr>
              <a:solidFill>
                <a:srgbClr val="F57F17"/>
              </a:solidFill>
              <a:effectLst/>
            </c:spPr>
          </c:dPt>
          <c:dPt>
            <c:idx val="4"/>
            <c:bubble3D val="0"/>
            <c:spPr>
              <a:solidFill>
                <a:srgbClr val="78909C"/>
              </a:solidFill>
              <a:effectLst/>
            </c:spPr>
          </c:dPt>
          <c:dLbls>
            <c:dLbl>
              <c:idx val="0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en-US" sz="1200" b="0" i="0" u="none" strike="noStrike" kern="1200" baseline="0">
                      <a:solidFill>
                        <a:srgbClr val="000000"/>
                      </a:solid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Sheet1!$A$2:$A$6</c:f>
              <c:strCache>
                <c:ptCount val="5"/>
                <c:pt idx="0">
                  <c:v>Success Ground</c:v>
                </c:pt>
                <c:pt idx="1">
                  <c:v>Success Ship</c:v>
                </c:pt>
                <c:pt idx="2">
                  <c:v>Failure Ship</c:v>
                </c:pt>
                <c:pt idx="3">
                  <c:v>Failure Ocean</c:v>
                </c:pt>
                <c:pt idx="4">
                  <c:v>No Attempt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41</c:v>
                </c:pt>
                <c:pt idx="2">
                  <c:v>10</c:v>
                </c:pt>
                <c:pt idx="3">
                  <c:v>5</c:v>
                </c:pt>
                <c:pt idx="4">
                  <c:v>21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c968e3a-aa78-42b1-839e-d10d184f6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800" b="0" i="0" u="none" strike="noStrike" kern="1200" baseline="0">
                <a:solidFill>
                  <a:srgbClr val="000000"/>
                </a:solidFill>
                <a:latin typeface="Arial" panose="020B0604020202020204"/>
                <a:ea typeface="+mn-ea"/>
                <a:cs typeface="+mn-cs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 panose="020B0604020202020204"/>
              </a:rPr>
              <a:t>Test Accuracy by Model</a:t>
            </a:r>
            <a:endParaRPr sz="1800" b="0" i="0" u="none" strike="noStrike">
              <a:solidFill>
                <a:srgbClr val="000000"/>
              </a:solidFill>
              <a:latin typeface="Arial" panose="020B060402020202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 (%)</c:v>
                </c:pt>
              </c:strCache>
            </c:strRef>
          </c:tx>
          <c:spPr>
            <a:solidFill>
              <a:srgbClr val="546E7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46E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46E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3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46E7A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1E293B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Logistic
Regression</c:v>
                </c:pt>
                <c:pt idx="1">
                  <c:v>SVM</c:v>
                </c:pt>
                <c:pt idx="2">
                  <c:v>Decision
Tree</c:v>
                </c:pt>
                <c:pt idx="3">
                  <c:v>KNN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83.3</c:v>
                </c:pt>
                <c:pt idx="1">
                  <c:v>83.3</c:v>
                </c:pt>
                <c:pt idx="2">
                  <c:v>83.3</c:v>
                </c:pt>
                <c:pt idx="3">
                  <c:v>83.3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46E7A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 cmpd="sng" algn="ctr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46E7A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04f20582-99ef-491c-a500-e3b127461ec4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9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291346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9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91346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8686800" cy="731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070348"/>
            <a:ext cx="8686800" cy="731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0080"/>
            <a:ext cx="80467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kern="0" spc="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Falcon 9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1261872"/>
            <a:ext cx="80467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First Stage Landing Prediction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80467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Science Capstone Project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68880"/>
            <a:ext cx="17373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90+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2944368"/>
            <a:ext cx="17373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Records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2468880"/>
            <a:ext cx="17373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880360" y="2944368"/>
            <a:ext cx="17373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3776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468880"/>
            <a:ext cx="17373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983480" y="2944368"/>
            <a:ext cx="17373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Accuracy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40880" y="2423160"/>
            <a:ext cx="1828800" cy="914400"/>
          </a:xfrm>
          <a:prstGeom prst="rect">
            <a:avLst/>
          </a:prstGeom>
          <a:solidFill>
            <a:srgbClr val="0D2A4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0" y="2468880"/>
            <a:ext cx="173736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$103M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086600" y="2944368"/>
            <a:ext cx="17373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Cost Savings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8046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IBM Data Science Professional Certificate  ·  2024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690872"/>
            <a:ext cx="80467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GitHub: https://github.com/codemewithc/Python-projects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findings and business impact at a glance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70432"/>
            <a:ext cx="51206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261872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Problem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536192"/>
            <a:ext cx="47548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lists Falcon 9 launches at $62M vs $165M+ for competitors — largely because they reuse the first stage booster.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Predicting whether the first stage will successfully land determines actual launch cost. This capability gives competing bidders a strategic pricing advantage.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514600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collected via SpaceX REST API &amp; Wikipedia web scraping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SQL-based EDA on launch records; interactive Folium maps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Plotly Dash dashboard for real-time visual analytics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ML classifiers trained with GridSearchCV; Decision Tree achieved best test accuracy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1170432"/>
            <a:ext cx="3108960" cy="8046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1216152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760720" y="1591056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Model Accuracy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(Decision Tree)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69280" y="2057400"/>
            <a:ext cx="3108960" cy="80467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103120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KSC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760720" y="247802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5D6A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Launch Site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5D6A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(Most Successes)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69280" y="2944368"/>
            <a:ext cx="3108960" cy="804672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990088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2,000–4,000 kg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760720" y="336499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CC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Highest Success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CC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Payload Range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0" y="3831336"/>
            <a:ext cx="3108960" cy="804672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3877056"/>
            <a:ext cx="292608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FT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60720" y="4251960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E93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Booster Version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CE93D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by Success Rate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Background, problem definition &amp; project goals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Background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411480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has disrupted the launch industry through reusable rocket technology. The Falcon 9 rocket's first stage booster can be recovered, refurbished, and reflown, cutting per-launch costs by up to 60%.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successful booster landing directly translates to savings of $100M+. Predicting landing success before launch enables: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907792"/>
            <a:ext cx="39319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Accurate cost estimation for competing launch providers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assessment and insurance pricing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Strategic bidding against SpaceX tenders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70432"/>
            <a:ext cx="4114800" cy="2011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26187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572768"/>
            <a:ext cx="384048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Given historical Falcon 9 launch data (payload mass, orbit, launch site, booster version), predict whether the first stage booster will successfully land — enabling pre-launch cost estimation.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754880" y="324612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Cost Comparison ($ Millions)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3547872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</a:t>
            </a:r>
            <a:endParaRPr lang="en-US" sz="900" dirty="0"/>
          </a:p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(Reused)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08192" y="3593592"/>
            <a:ext cx="1305652" cy="2743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32132" y="35935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$62M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4005072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Competitors</a:t>
            </a:r>
            <a:endParaRPr lang="en-US" sz="900" dirty="0"/>
          </a:p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(Avg)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08192" y="4050792"/>
            <a:ext cx="3474720" cy="274320"/>
          </a:xfrm>
          <a:prstGeom prst="rect">
            <a:avLst/>
          </a:prstGeom>
          <a:solidFill>
            <a:srgbClr val="EF5350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40507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535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$165M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Collection — SpaceX API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Methodology · GitHub: https://github.com/codemewithc/Python-projects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7043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Retrieval Workflow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36192"/>
            <a:ext cx="14173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REST API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v4/launches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74520" y="1737360"/>
            <a:ext cx="182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066544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12264" y="1536192"/>
            <a:ext cx="14173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Fetch Rocket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&amp; Payload IDs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75304" y="1737360"/>
            <a:ext cx="182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67328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13048" y="1536192"/>
            <a:ext cx="14173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Enrich with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launchpad &amp; crew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76088" y="1737360"/>
            <a:ext cx="182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68112" y="1508760"/>
            <a:ext cx="1508760" cy="8686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13832" y="1536192"/>
            <a:ext cx="14173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Construct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DataFrame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976872" y="1737360"/>
            <a:ext cx="182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168896" y="1508760"/>
            <a:ext cx="1508760" cy="8686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14616" y="1536192"/>
            <a:ext cx="14173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Export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spacex_data.csv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5760" y="254203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Features Extracted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2834640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86207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FlightNumber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377440" y="2834640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68880" y="2862072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date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19125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BoosterVersion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377440" y="3163824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68880" y="319125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PayloadMass (kg)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3493008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52044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Orbit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377440" y="3493008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68880" y="352044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LaunchSite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822192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49624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Outcome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377440" y="3822192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68880" y="3849624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Longitude/Latitude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65760" y="4151376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17880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LandingPad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377440" y="4151376"/>
            <a:ext cx="1920240" cy="274320"/>
          </a:xfrm>
          <a:prstGeom prst="rect">
            <a:avLst/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8880" y="417880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Block / GridFins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2542032"/>
            <a:ext cx="4114800" cy="21945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33472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 Summary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892040" y="2926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Launches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78040" y="29260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92040" y="32552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Date Range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178040" y="325526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2010 – 2020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892040" y="358444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Sites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178040" y="358444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892040" y="39136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Booster Versions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178040" y="391363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6+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892040" y="424281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Success Rate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178040" y="424281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~67%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Collection — Web Scraping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Wikipedia scraping with BeautifulSoup · GitHub: https://github.com/codemewithc/Python-projects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70432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Scraped: Wikipedia — List of Falcon 9 and Falcon Heavy Launches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60020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0020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Request HTML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856232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Used requests library to fetch Wikipedia launch table HTML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60020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60020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49240" y="16002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Parse with BS4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49240" y="1856232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BeautifulSoup parsed &lt;table&gt; tags; extracted Falcon 9 rows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65176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517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26517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Extract Columns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2907792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Flight No., Date/Time, Version, Payload, Orbit, Outcome, Turnaround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5488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651760"/>
            <a:ext cx="411480" cy="41148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65176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49240" y="26517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Clean &amp; Export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49240" y="2907792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Handled missing values; exported to CSV for downstream use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3639312"/>
            <a:ext cx="8412480" cy="100584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712464"/>
            <a:ext cx="8046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Additional Data Captured via Scraping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3968496"/>
            <a:ext cx="80467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Booster reuse count  ·  Landing outcome (Success/Failure/Drone Ship/Ground Pad)  ·  Turnaround time between launches  ·  Customer/mission type  ·  Payload classification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Wrangling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cleaning, feature engineering &amp; label creation · GitHub: https://github.com/codemewithc/Python-projects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" y="1188720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11887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Handle Missing Values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PayloadMass: filled with column mean. LandingPad: filled 'None' for non-pad landings.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" y="2084832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" y="2084832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208483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Filter Falcon 9 Only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359152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Removed Falcon Heavy and experimental flights; kept only operational Falcon 9 launches.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" y="2980944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" y="298094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298094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Create Training Label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3255264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"class" column: 1 = successful first-stage landing, 0 = unsuccessful. Derived from Outcome field.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" y="3877056"/>
            <a:ext cx="292608" cy="29260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" y="387705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3877056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 Engineering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151376"/>
            <a:ext cx="4389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One-hot encoding for categorical variables (Orbit, LaunchSite, LandingPad, Serial). Standardized numeric features.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0" y="118872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Landing Outcome Distribution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/>
        </p:nvGraphicFramePr>
        <p:xfrm>
          <a:off x="5029200" y="1481328"/>
          <a:ext cx="3840480" cy="201168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731520"/>
              </a:tblGrid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Outcome Code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Description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Count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True Ocean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Failure (ocean)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False ASDS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Failure (ship)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True RTLS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Success (ground)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14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True ASDS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Success (ship)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41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None None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 attempt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21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029200" y="3566160"/>
            <a:ext cx="3840480" cy="1097280"/>
          </a:xfrm>
          <a:prstGeom prst="rect">
            <a:avLst/>
          </a:prstGeom>
          <a:solidFill>
            <a:srgbClr val="FFF8E1"/>
          </a:solidFill>
          <a:ln w="12700">
            <a:solidFill>
              <a:srgbClr val="F57F1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66360" y="3639312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7F1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 Balance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166360" y="3913632"/>
            <a:ext cx="34747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Success (Class=1): ~67%   Failure (Class=0): ~33%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Slightly imbalanced — handled via stratified train/test split (80/20).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EDA — Visualization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patterns from scatter plots, bar charts &amp; trend analysis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365760" y="1188720"/>
          <a:ext cx="411480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663440" y="1188720"/>
          <a:ext cx="411480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3337560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  SSO &amp; VLEO orbits show 88–92% success — lighter payloads improve landing odds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365760" y="3721608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📈  Year-over-year success rate climbed from near-zero in 2010 to 90%+ by 2020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365760" y="4105656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⚖️  Payload 2,000–4,000 kg sweet spot: high enough payload, low enough mass for fuel-efficient landing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65760" y="448970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🚀  GTO missions have lowest success rate (~55%) due to high fuel consumption leaving booster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EDA — SQL Analysis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SQL queries on SPACEXTABLE (SQLite) · GitHub: https://github.com/codemewithc/Python-projects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70432"/>
            <a:ext cx="4754880" cy="356616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6187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Selected SQL Query Results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572768"/>
            <a:ext cx="4389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Unique Launch Sites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179222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CCAFS LC-40, VAFB SLC-4E, KSC LC-39A, CCAFS SLC-40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103120"/>
            <a:ext cx="4389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NASA CRS Payload (kg)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322576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45,596 kg across all CRS missions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633472"/>
            <a:ext cx="4389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Avg Payload — F9 v1.1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85292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2,534 kg average payload mass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3163824"/>
            <a:ext cx="4389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First Successful Ground Landing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" y="3383280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2015-12-22 (CCAFS LC-40)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694176"/>
            <a:ext cx="4389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Drone Ship Success — 4–6k kg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391363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B1039, B1060 (4,230 &amp; 5,683 kg)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4224528"/>
            <a:ext cx="4389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 Ranked Landing Outcome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444398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Success (ground pad): 27 landings</a:t>
            </a:r>
            <a:endParaRPr lang="en-US" sz="100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5303520" y="1170432"/>
          <a:ext cx="35661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Interactive Visual Analytics — Folium Maps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site mapping &amp; proximity analysis · GitHub: https://github.com/codemewithc/Python-projects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Sites Mapped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365760" y="1481328"/>
          <a:ext cx="4754880" cy="150876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05840"/>
                <a:gridCol w="1097280"/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Site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State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Launches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Success%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KSC LC-39A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Florida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27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77%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CCAFS LC-40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Florida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26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65%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CCAFS SLC-40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Florida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22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59%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VAFB SLC-4E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California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13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62%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063240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Proximity Analysis Findings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65760" y="333756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sites located within 20 km of coastline (ocean proximity for safety)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Sites 50–100 km from populated cities (safety buffers maintained)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KSC closest to railway infrastructure — logistics advantage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VAFB optimized for polar/SSO orbits (Pacific launch corridor)</a:t>
            </a:r>
            <a:endParaRPr lang="en-US" sz="1050" dirty="0"/>
          </a:p>
        </p:txBody>
      </p:sp>
      <p:sp>
        <p:nvSpPr>
          <p:cNvPr id="7" name="Shape 7"/>
          <p:cNvSpPr/>
          <p:nvPr/>
        </p:nvSpPr>
        <p:spPr>
          <a:xfrm>
            <a:off x="5303520" y="1170432"/>
            <a:ext cx="356616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40680" y="1261872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Folium Map Features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40680" y="160020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🟢 Green markers = successful landings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40680" y="205740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🔴 Red markers = failed landings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40680" y="251460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⭕ Circle markers = launch sites with pop-up details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440680" y="297180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📏 Distance lines — coastline, city, railways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440680" y="342900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🗺️ Cluster view for dense launch areas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40680" y="388620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Filterable by mission outcome for pattern analysis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40680" y="438912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0CAF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View live map: https://github.com/codemewithc/Python-projects/blob/main/lab_jupyter_launch_site_location.ipynb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Interactive Visual Analytics — Plotly Dash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Real-time analytics app · GitHub: https://github.com/codemewithc/Python-projects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Dashboard Components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60020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Launch Site Dropdown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0352" y="1874520"/>
            <a:ext cx="3840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Select a specific site or 'All Sites' to filter the entire dashboard in real-time.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150876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60020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Payload Range Slider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19472" y="1874520"/>
            <a:ext cx="3840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Filter launches by payload mass (0–10,000 kg) to explore mass vs. outcome correlations.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56032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265176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Success Pie Chart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0352" y="2926080"/>
            <a:ext cx="3840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Dynamic pie chart showing success/failure ratio for selected site(s) — updates on dropdown change.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5603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560320"/>
            <a:ext cx="73152" cy="9144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2651760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Payload Scatter Plot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2926080"/>
            <a:ext cx="3840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X: Payload Mass, Y: Launch Outcome. Color-coded by Booster Version (v1.0, v1.1, FT, B4, B5).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639312"/>
            <a:ext cx="8412480" cy="1234440"/>
          </a:xfrm>
          <a:prstGeom prst="rect">
            <a:avLst/>
          </a:prstGeom>
          <a:solidFill>
            <a:srgbClr val="E8EAF6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712464"/>
            <a:ext cx="8046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Dashboard Insights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3986784"/>
            <a:ext cx="80467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KSC LC-39A has the highest total successful launches (27). </a:t>
            </a: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CCAFS SLC-40 has highest overall launch count.  </a:t>
            </a: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Payload 2,000–4,000 kg shows the highest success rate across all sites.  </a:t>
            </a: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FT booster version consistently outperforms older versions in success rate.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Predictive Analysis — Methodology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Machine learning pipeline &amp; model selection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88720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ML Pipeline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481328"/>
            <a:ext cx="1508760" cy="7498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50876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Standardize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719072"/>
            <a:ext cx="182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066544" y="1481328"/>
            <a:ext cx="1508760" cy="749808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12264" y="150876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Train/Test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Split 80/20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75304" y="1719072"/>
            <a:ext cx="182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67328" y="1481328"/>
            <a:ext cx="150876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13048" y="150876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GridSearchCV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cv=10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76088" y="1719072"/>
            <a:ext cx="182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68112" y="1481328"/>
            <a:ext cx="1508760" cy="7498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13832" y="150876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Model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Selection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76872" y="1719072"/>
            <a:ext cx="182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68896" y="1481328"/>
            <a:ext cx="1508760" cy="749808"/>
          </a:xfrm>
          <a:prstGeom prst="rect">
            <a:avLst/>
          </a:prstGeom>
          <a:solidFill>
            <a:srgbClr val="BF360C"/>
          </a:solidFill>
          <a:ln w="12700">
            <a:solidFill>
              <a:srgbClr val="BF36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14616" y="150876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Set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2377440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Models Trained &amp; Hyperparameters (GridSearchCV)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/>
        </p:nvGraphicFramePr>
        <p:xfrm>
          <a:off x="365760" y="2670048"/>
          <a:ext cx="8412480" cy="1920240"/>
        </p:xfrm>
        <a:graphic>
          <a:graphicData uri="http://schemas.openxmlformats.org/drawingml/2006/table">
            <a:tbl>
              <a:tblPr/>
              <a:tblGrid>
                <a:gridCol w="1920240"/>
                <a:gridCol w="3474720"/>
                <a:gridCol w="1280160"/>
                <a:gridCol w="173736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Key Hyperparameters Searched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CV Score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Test Accuracy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565C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Logistic Regression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C: [0.01, 0.1, 1, 10, 100], solver: lbfgs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83.3%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83.3%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Support Vector Machine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C: [0.01-100], gamma: [auto, scale], kernel: linear/rbf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83.3%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83.3%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Decision Tree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max_depth: [2–15], criterion: gini/entropy, max_features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87.2%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83.3%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K-Nearest Neighbors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n_neighbors: [1–10], algorithm, p: [1,2]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80.0%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A237E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83.3%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64008" cy="5029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8288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B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Predictive Analysis — Results &amp; Evaluation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comparison, confusion matrix &amp; best model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228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365760" y="1170432"/>
          <a:ext cx="384048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4389120" y="1170432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Decision Tree — Confusion Matrix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389120" y="1417320"/>
            <a:ext cx="44805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(on 18 test samples)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60720" y="1664208"/>
            <a:ext cx="14630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06440" y="1682496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Predicted: 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269480" y="1664208"/>
            <a:ext cx="14630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0" y="1682496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Predicted: 1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89120" y="1965960"/>
            <a:ext cx="1325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34840" y="1984248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Actual: 0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760720" y="1965960"/>
            <a:ext cx="146304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1984248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TP=3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(True 0)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269480" y="1965960"/>
            <a:ext cx="1463040" cy="548640"/>
          </a:xfrm>
          <a:prstGeom prst="rect">
            <a:avLst/>
          </a:prstGeom>
          <a:solidFill>
            <a:srgbClr val="FFEB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0" y="1984248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6282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FP=3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C6282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(False 1)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389120" y="2542032"/>
            <a:ext cx="1325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34840" y="256032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Actual: 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760720" y="2542032"/>
            <a:ext cx="1463040" cy="548640"/>
          </a:xfrm>
          <a:prstGeom prst="rect">
            <a:avLst/>
          </a:prstGeom>
          <a:solidFill>
            <a:srgbClr val="FFEBEE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06440" y="256032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6282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FN=0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C6282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(False 0)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269480" y="2542032"/>
            <a:ext cx="146304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0" y="256032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TN=12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(True 1)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65760" y="3547872"/>
            <a:ext cx="8412480" cy="1188720"/>
          </a:xfrm>
          <a:prstGeom prst="rect">
            <a:avLst/>
          </a:prstGeom>
          <a:solidFill>
            <a:srgbClr val="E8F5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8640" y="3621024"/>
            <a:ext cx="8046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3895344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37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4 models achieved identical 83.3% test accuracy on 18 test samples. Decision Tree was selected as best model due to highest CV score (87.2%) and interpretability.  The main error type is False Positives (predicting landing when it fails), which is safer for business use — overestimating costs rather than underestimating them.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74320" y="4892040"/>
            <a:ext cx="8229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Capstone Project  |  IBM Data Science  |  https://github.com/codemewithc/Python-projects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8686800" y="4892040"/>
            <a:ext cx="3657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 &amp; Insights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749808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SpaceX Falcon 9 First Stage Landing Prediction — Capstone Summary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115568"/>
            <a:ext cx="2651760" cy="3291840"/>
          </a:xfrm>
          <a:prstGeom prst="rect">
            <a:avLst/>
          </a:prstGeom>
          <a:solidFill>
            <a:srgbClr val="0D2A4A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115568"/>
            <a:ext cx="2651760" cy="34747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133856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Technical Findings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2468880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Decision Tree (best CV 87.2%) selected as final model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83.3% test accuracy — strong baseline for 90-sample dataset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false negatives: zero missed actual successes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predictors: orbit type, payload mass, launch site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6160" y="1115568"/>
            <a:ext cx="2651760" cy="3291840"/>
          </a:xfrm>
          <a:prstGeom prst="rect">
            <a:avLst/>
          </a:prstGeom>
          <a:solidFill>
            <a:srgbClr val="0D2A4A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115568"/>
            <a:ext cx="2651760" cy="347472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133856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Business Insights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1508760"/>
            <a:ext cx="2468880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KSC LC-39A = highest success count &amp; efficiency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FT booster version = highest reliability across sites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2,000–4,000 kg payloads achieve best landing odds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SSO &amp; VLEO missions most likely to recover booster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1115568"/>
            <a:ext cx="2651760" cy="3291840"/>
          </a:xfrm>
          <a:prstGeom prst="rect">
            <a:avLst/>
          </a:prstGeom>
          <a:solidFill>
            <a:srgbClr val="0D2A4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115568"/>
            <a:ext cx="2651760" cy="34747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133856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508760"/>
            <a:ext cx="2468880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Expand dataset to post-2020 launches (Starship era)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weather data, reuse count, turnaround time features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Try XGBoost/Random Forest for ensemble improvements</a:t>
            </a:r>
            <a:endParaRPr lang="en-US" sz="1000" dirty="0"/>
          </a:p>
          <a:p>
            <a:pPr marL="101600" indent="-101600">
              <a:buSzPct val="100000"/>
              <a:buChar char="•"/>
            </a:pPr>
            <a:r>
              <a:rPr lang="en-US" sz="1000" dirty="0">
                <a:solidFill>
                  <a:srgbClr val="E3F2F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Deploy model as real-time pricing API for bid calculation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841248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99432"/>
            <a:ext cx="804672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46E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 Repository: https://github.com/codemewithc/Python-projects  ·  IBM Data Science Professional Certificate  ·  2024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9740</Words>
  <Application>WPS Presentation</Application>
  <PresentationFormat>On-screen Show (16:9)</PresentationFormat>
  <Paragraphs>581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Calibri</vt:lpstr>
      <vt:lpstr>Calibri</vt:lpstr>
      <vt:lpstr>Arial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 Falcon 9 First Stage Landing Prediction</dc:title>
  <dc:creator>Data Science Capstone</dc:creator>
  <dc:subject>PptxGenJS Presentation</dc:subject>
  <cp:lastModifiedBy>BEN_ZEMA</cp:lastModifiedBy>
  <cp:revision>2</cp:revision>
  <dcterms:created xsi:type="dcterms:W3CDTF">2026-05-09T09:52:00Z</dcterms:created>
  <dcterms:modified xsi:type="dcterms:W3CDTF">2026-05-09T11:16:44Z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5B155BB8A3924DD4B8203B195DC05C46_12</vt:lpwstr>
  </property>
  <property fmtid="{D5CDD505-2E9C-101B-9397-08002B2CF9AE}" pid="3" name="KSOProductBuildVer">
    <vt:lpwstr>1033-12.1.0.25242</vt:lpwstr>
  </property>
</Properties>
</file>