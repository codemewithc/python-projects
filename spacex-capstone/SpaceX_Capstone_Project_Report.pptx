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Success Rate by Orbit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 (%)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LEO</c:v>
                  </c:pt>
                  <c:pt idx="1">
                    <c:v>ISS</c:v>
                  </c:pt>
                  <c:pt idx="2">
                    <c:v>PO</c:v>
                  </c:pt>
                  <c:pt idx="3">
                    <c:v>GTO</c:v>
                  </c:pt>
                  <c:pt idx="4">
                    <c:v>SSO</c:v>
                  </c:pt>
                  <c:pt idx="5">
                    <c:v>VLEO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83</c:v>
                </c:pt>
                <c:pt idx="2">
                  <c:v>60</c:v>
                </c:pt>
                <c:pt idx="3">
                  <c:v>55</c:v>
                </c:pt>
                <c:pt idx="4">
                  <c:v>92</c:v>
                </c:pt>
                <c:pt idx="5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Success Rate Trend Over Years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</c:v>
                </c:pt>
              </c:strCache>
            </c:strRef>
          </c:tx>
          <c:spPr>
            <a:solidFill>
              <a:srgbClr val="00BCD4"/>
            </a:solidFill>
            <a:ln w="31750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2010</c:v>
                  </c:pt>
                  <c:pt idx="1">
                    <c:v>2012</c:v>
                  </c:pt>
                  <c:pt idx="2">
                    <c:v>2014</c:v>
                  </c:pt>
                  <c:pt idx="3">
                    <c:v>2016</c:v>
                  </c:pt>
                  <c:pt idx="4">
                    <c:v>2017</c:v>
                  </c:pt>
                  <c:pt idx="5">
                    <c:v>2018</c:v>
                  </c:pt>
                  <c:pt idx="6">
                    <c:v>2019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25</c:v>
                </c:pt>
                <c:pt idx="2">
                  <c:v>30</c:v>
                </c:pt>
                <c:pt idx="3">
                  <c:v>60</c:v>
                </c:pt>
                <c:pt idx="4">
                  <c:v>72</c:v>
                </c:pt>
                <c:pt idx="5">
                  <c:v>80</c:v>
                </c:pt>
                <c:pt idx="6">
                  <c:v>85</c:v>
                </c:pt>
                <c:pt idx="7">
                  <c:v>90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Landing Outcome Breakdown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D32"/>
              </a:solidFill>
              <a:effectLst/>
            </c:spPr>
          </c:dPt>
          <c:dPt>
            <c:idx val="1"/>
            <c:bubble3D val="0"/>
            <c:spPr>
              <a:solidFill>
                <a:srgbClr val="1565C0"/>
              </a:solidFill>
              <a:effectLst/>
            </c:spPr>
          </c:dPt>
          <c:dPt>
            <c:idx val="2"/>
            <c:bubble3D val="0"/>
            <c:spPr>
              <a:solidFill>
                <a:srgbClr val="C62828"/>
              </a:solidFill>
              <a:effectLst/>
            </c:spPr>
          </c:dPt>
          <c:dPt>
            <c:idx val="3"/>
            <c:bubble3D val="0"/>
            <c:spPr>
              <a:solidFill>
                <a:srgbClr val="F57F17"/>
              </a:solidFill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Success Ground</c:v>
                </c:pt>
                <c:pt idx="1">
                  <c:v>Success Ship</c:v>
                </c:pt>
                <c:pt idx="2">
                  <c:v>Failure Ship</c:v>
                </c:pt>
                <c:pt idx="3">
                  <c:v>Failure Ocean</c:v>
                </c:pt>
                <c:pt idx="4">
                  <c:v>No Attempt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14</c:v>
                </c:pt>
                <c:pt idx="1">
                  <c:v>41</c:v>
                </c:pt>
                <c:pt idx="2">
                  <c:v>10</c:v>
                </c:pt>
                <c:pt idx="3">
                  <c:v>5</c:v>
                </c:pt>
                <c:pt idx="4">
                  <c:v>21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Test Accuracy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546E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Logistic
Regression</c:v>
                  </c:pt>
                  <c:pt idx="1">
                    <c:v>SVM</c:v>
                  </c:pt>
                  <c:pt idx="2">
                    <c:v>Decision
Tree</c:v>
                  </c:pt>
                  <c:pt idx="3">
                    <c:v>KNN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83.3</c:v>
                </c:pt>
                <c:pt idx="1">
                  <c:v>83.3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8686800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70348"/>
            <a:ext cx="8686800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Falcon 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126187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Stage Landing Prediction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 Project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688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294436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Records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24688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80360" y="294436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3776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4688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983480" y="294436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4088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24688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$103M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86600" y="2944368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Data Science Professional Certificate  ·  2024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9087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https://github.com/yourusername/spacex-capstone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business impact at a glance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5120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618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53619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lists Falcon 9 launches at $62M vs $165M+ for competitors — largely because they reuse the first stage booster.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whether the first stage will successfully land determines actual launch cost. This capability gives competing bidders a strategic pricing advantage.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via SpaceX REST API &amp; Wikipedia web scraping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SQL-based EDA on launch records; interactive Folium maps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Dash dashboard for real-time visual analytics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ML classifiers trained with GridSearchCV; Decision Tree achieved best test accuracy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1170432"/>
            <a:ext cx="3108960" cy="8046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12161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760720" y="159105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Accuracy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(Decision Tree)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2057400"/>
            <a:ext cx="3108960" cy="80467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760720" y="24780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Launch Site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(Most Successes)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0" y="2944368"/>
            <a:ext cx="3108960" cy="8046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9900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2,000–4,000 kg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760720" y="336499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Success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Range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0" y="3831336"/>
            <a:ext cx="3108960" cy="80467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38770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0" y="4251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Booster Version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Success Rate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problem definition &amp; project goals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has disrupted the launch industry through reusable rocket technology. The Falcon 9 rocket's first stage booster can be recovered, refurbished, and reflown, cutting per-launch costs by up to 60%.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successful booster landing directly translates to savings of $100M+. Predicting landing success before launch enables: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9077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cost estimation for competing launch providers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and insurance pricing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bidding against SpaceX tenders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70432"/>
            <a:ext cx="4114800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historical Falcon 9 launch data (payload mass, orbit, launch site, booster version), predict whether the first stage booster will successfully land — enabling pre-launch cost estimation.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Cost Comparison ($ Millions)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35478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(Reused)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08192" y="3593592"/>
            <a:ext cx="1305652" cy="2743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32132" y="3593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4005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(Avg)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8192" y="4050792"/>
            <a:ext cx="3474720" cy="27432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4050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$165M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SpaceX API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704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Retrieval Workflow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36192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REST 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v4/launches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17373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66544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12264" y="1536192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Rocket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Payload IDs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75304" y="17373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67328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1536192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with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launchpad &amp; crew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17373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68112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13832" y="1536192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976872" y="17373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168896" y="1508760"/>
            <a:ext cx="1508760" cy="868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4616" y="1536192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spacex_data.csv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2542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Extracted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2834640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862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FlightNumber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2834640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68880" y="2862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191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BoosterVersion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3163824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68880" y="3191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PayloadMass (kg)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520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377440" y="3493008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68880" y="3520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LaunchSite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822192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49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377440" y="3822192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68880" y="3849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Longitude/Latitude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151376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1788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LandingPad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377440" y="4151376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8880" y="41788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GridFins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2542032"/>
            <a:ext cx="4114800" cy="2194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334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Summary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89204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Launches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7804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92040" y="3255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178040" y="325526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– 2020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892040" y="3584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Sites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17804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92040" y="3913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 Versions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178040" y="3913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892040" y="4242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178040" y="4242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~67%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Web Scraping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scraping with BeautifulSoup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704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Scraped: Wikipedia — List of Falcon 9 and Falcon Heavy Launches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0020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HTML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requests library to fetch Wikipedia launch table HTML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60020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16002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with BS4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49240" y="18562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parsed &lt;table&gt; tags; extracted Falcon 9 rows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65176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Columns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29077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No., Date/Time, Version, Payload, Orbit, Outcome, Turnaround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65176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4924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Export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49240" y="29077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missing values; exported to CSV for downstream use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3639312"/>
            <a:ext cx="8412480" cy="100584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71246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Data Captured via Scraping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3968496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 reuse count  ·  Landing outcome (Success/Failure/Drone Ship/Ground Pad)  ·  Turnaround time between launches  ·  Customer/mission type  ·  Payload classification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cleaning, feature engineering &amp; label creation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" y="1188720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Missing Values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PayloadMass: filled with column mean. LandingPad: filled 'None' for non-pad landings.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" y="2084832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084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Falcon 9 Only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35915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Falcon Heavy and experimental flights; kept only operational Falcon 9 launches.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" y="2980944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" y="2980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9809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Training Label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2552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"class" column: 1 = successful first-stage landing, 0 = unsuccessful. Derived from Outcome field.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" y="3877056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8770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15137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 for categorical variables (Orbit, LaunchSite, LandingPad, Serial). Standardized numeric features.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0" y="1188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Outcome Distribution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81328"/>
          <a:ext cx="3840480" cy="201168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73152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Ocean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(ocean)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ASDS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(ship)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RTLS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 (ground)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ASDS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 (ship)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attempt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029200" y="3566160"/>
            <a:ext cx="3840480" cy="1097280"/>
          </a:xfrm>
          <a:prstGeom prst="rect">
            <a:avLst/>
          </a:prstGeom>
          <a:solidFill>
            <a:srgbClr val="FFF8E1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36393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1663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(Class=1): ~67%   Failure (Class=0): ~33%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imbalanced — handled via stratified train/test split (80/20).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Visualization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patterns from scatter plots, bar charts &amp; trend analysis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365760" y="1188720"/>
          <a:ext cx="41148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663440" y="1188720"/>
          <a:ext cx="41148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33375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SSO &amp; VLEO orbits show 88–92% success — lighter payloads improve landing odds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365760" y="372160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Year-over-year success rate climbed from near-zero in 2010 to 90%+ by 2020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365760" y="41056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Payload 2,000–4,000 kg sweet spot: high enough payload, low enough mass for fuel-efficient landing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448970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GTO missions have lowest success rate (~55%) due to high fuel consumption leaving booster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SQL Analysis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on SPACEXTABLE (SQLite)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4754880" cy="356616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6187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SQL Query Results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Launch Sites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CCAFS LC-40, VAFB SLC-4E, KSC LC-39A, CCAFS SLC-40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103120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NASA CRS Payload (kg)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32257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45,596 kg across all CRS missions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33472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Payload — F9 v1.1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2,534 kg average payload mass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Successful Ground Landing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3832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2015-12-22 (CCAFS LC-40)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694176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Ship Success — 4–6k kg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39136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B1039, B1060 (4,230 &amp; 5,683 kg)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22452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Ranked Landing Outcome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(ground pad): 27 landings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303520" y="1170432"/>
          <a:ext cx="35661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 Analytics — Folium Maps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site mapping &amp; proximity analysis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Sites Mapped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81328"/>
          <a:ext cx="4754880" cy="150876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0584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KSC LC-39A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CCAFS LC-40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CCAFS SLC-40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VAFB SLC-4E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California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0632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Analysis Findings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33375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sites located within 20 km of coastline (ocean proximity for safety)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50–100 km from populated cities (safety buffers maintained)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closest to railway infrastructure — logistics advantage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VAFB optimized for polar/SSO orbits (Pacific launch corridor)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303520" y="1170432"/>
            <a:ext cx="356616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1261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Map Features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40680" y="1600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markers = successful landings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40680" y="2057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Red markers = failed landings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4068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⭕ Circle markers = launch sites with pop-up details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440680" y="29718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Distance lines — coastline, city, railways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40680" y="3429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Cluster view for dense launch areas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40680" y="3886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by mission outcome for pattern analysis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40680" y="43891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live map: https://github.com/yourusername/spacex-capstone/blob/main/lab_jupyter_launch_site_location.ipynb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 Analytics — Plotly Dash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app · GitHub: https://github.com/yourusername/spacex-capstone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Components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600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Site Dropdown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specific site or 'All Sites' to filter the entire dashboard in real-time.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600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Range Slider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launches by payload mass (0–10,000 kg) to explore mass vs. outcome correlations.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56032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6517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Pie Chart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" y="29260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pie chart showing success/failure ratio for selected site(s) — updates on dropdown change.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56032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26517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Scatter Plot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29260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Payload Mass, Y: Launch Outcome. Color-coded by Booster Version (v1.0, v1.1, FT, B4, B5).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8412480" cy="1234440"/>
          </a:xfrm>
          <a:prstGeom prst="rect">
            <a:avLst/>
          </a:prstGeom>
          <a:solidFill>
            <a:srgbClr val="E8EAF6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71246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Insights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986784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has the highest total successful launches (27). </a:t>
            </a:r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CCAFS SLC-40 has highest overall launch count.  </a:t>
            </a:r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Payload 2,000–4,000 kg shows the highest success rate across all sites.  </a:t>
            </a:r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FT booster version consistently outperforms older versions in success rate.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— Methodology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 &amp; model selection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81328"/>
            <a:ext cx="150876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087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71907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66544" y="1481328"/>
            <a:ext cx="1508760" cy="74980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12264" y="15087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80/20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75304" y="171907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67328" y="1481328"/>
            <a:ext cx="150876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15087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cv=10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76088" y="171907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68112" y="1481328"/>
            <a:ext cx="150876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13832" y="15087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76872" y="171907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68896" y="1481328"/>
            <a:ext cx="1508760" cy="749808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4616" y="15087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23774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&amp; Hyperparameters (GridSearchCV)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70048"/>
          <a:ext cx="8412480" cy="192024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  <a:gridCol w="128016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Hyperparameters Searched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[0.01, 0.1, 1, 10, 100], solver: lbfgs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Vector Machine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[0.01-100], gamma: [auto, scale], kernel: linear/rbf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max_depth: [2–15], criterion: gini/entropy, max_features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K-Nearest Neighbors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n_neighbors: [1–10], algorithm, p: [1,2]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— Results &amp; Evaluation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comparison, confusion matrix &amp; best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365760" y="1170432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389120" y="11704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— Confusion Matrix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389120" y="141732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 18 test samples)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1664208"/>
            <a:ext cx="14630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68249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269480" y="1664208"/>
            <a:ext cx="14630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168249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9120" y="1965960"/>
            <a:ext cx="1325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34840" y="198424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0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965960"/>
            <a:ext cx="14630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1984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TP=3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(True 0)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69480" y="1965960"/>
            <a:ext cx="1463040" cy="548640"/>
          </a:xfrm>
          <a:prstGeom prst="rect">
            <a:avLst/>
          </a:prstGeom>
          <a:solidFill>
            <a:srgbClr val="FFEB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0" y="1984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FP=3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(False 1)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389120" y="2542032"/>
            <a:ext cx="1325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34840" y="25603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760720" y="2542032"/>
            <a:ext cx="1463040" cy="548640"/>
          </a:xfrm>
          <a:prstGeom prst="rect">
            <a:avLst/>
          </a:prstGeom>
          <a:solidFill>
            <a:srgbClr val="FFEB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0644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FN=0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(False 0)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269480" y="2542032"/>
            <a:ext cx="14630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TN=12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(True 1)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65760" y="3547872"/>
            <a:ext cx="841248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362102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389534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models achieved identical 83.3% test accuracy on 18 test samples. Decision Tree was selected as best model due to highest CV score (87.2%) and interpretability.  The main error type is False Positives (predicting landing when it fails), which is safer for business use — overestimating costs rather than underestimating them.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Capstone Project  |  IBM Data Science  |  https://github.com/yourusername/spacex-capstone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Insights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Falcon 9 First Stage Landing Prediction — Capstone Summary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115568"/>
            <a:ext cx="265176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1338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Findings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(best CV 87.2%) selected as final model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83.3% test accuracy — strong baseline for 90-sample dataset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false negatives: zero missed actual successes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predictors: orbit type, payload mass, launch site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115568"/>
            <a:ext cx="2651760" cy="34747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1338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15087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KSC LC-39A = highest success count &amp; efficiency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booster version = highest reliability across sites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2,000–4,000 kg payloads achieve best landing odds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&amp; VLEO missions most likely to recover booster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115568"/>
            <a:ext cx="2651760" cy="34747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1338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5087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dataset to post-2020 launches (Starship era)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weather data, reuse count, turnaround time features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XGBoost/Random Forest for ensemble improvements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model as real-time pricing API for bid calculation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41248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9943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https://github.com/yourusername/spacex-capstone  ·  IBM Data Science Professional Certificate  ·  2024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Falcon 9 First Stage Landing Prediction</dc:title>
  <dc:subject>PptxGenJS Presentation</dc:subject>
  <dc:creator>Data Science Capstone</dc:creator>
  <cp:lastModifiedBy>Data Science Capstone</cp:lastModifiedBy>
  <cp:revision>1</cp:revision>
  <dcterms:created xsi:type="dcterms:W3CDTF">2026-05-09T09:52:21Z</dcterms:created>
  <dcterms:modified xsi:type="dcterms:W3CDTF">2026-05-09T09:52:21Z</dcterms:modified>
</cp:coreProperties>
</file>